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391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Cover: team Voxsentinals, SIH 2026. One line: FAIR FLIGHT publishes India's national airfare price index daily, aligned to the new CPI Base Year 2024=100.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Open with the mandate: CPI 2024=100 / COICOP-2018 requires web-scraped prices for dynamic services; airfares are the textbook case. Then the six content bullets. Close: 'Official CPI tells you what airfares did last month. FAIR FLIGHT tells you what they are doing today — and what they will do next week.'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Left-to-right: collect, clean, aggregate, publish, analyse. Emphasise the never-fail scraper and that the screenshot is the live working prototype, not a mock-up.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Feasibility is proven, not promised — demo the live system. Risks are the honest ones (anti-bot, quality, scale); each has a concrete mitigation already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Lead with the policymaker impact, then the quantified economic benefit (0.61 % basket weight, +2.3 bps demo), then social/institutional and environmental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primary sources are official and public — the methodology is standard NSO practice (Laspeyres, COICOP) applied to a new high-frequency data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81928"/>
            <a:ext cx="12191695" cy="576072"/>
          </a:xfrm>
          <a:prstGeom prst="rect">
            <a:avLst/>
          </a:prstGeom>
          <a:solidFill>
            <a:srgbClr val="157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6355080"/>
            <a:ext cx="12191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u="none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3550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u="none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347472" y="274320"/>
            <a:ext cx="1536192" cy="731520"/>
          </a:xfrm>
          <a:prstGeom prst="ellipse">
            <a:avLst/>
          </a:prstGeom>
          <a:noFill/>
          <a:ln w="22225">
            <a:solidFill>
              <a:srgbClr val="8E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u="none">
                <a:solidFill>
                  <a:srgbClr val="000000"/>
                </a:solidFill>
                <a:latin typeface="Calibri"/>
              </a:rPr>
              <a:t>Voxsentinals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u="none">
                <a:solidFill>
                  <a:srgbClr val="000000"/>
                </a:solidFill>
                <a:latin typeface="Times New Roman"/>
              </a:rPr>
              <a:t>FAIR FLIGHT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7143" y="3679153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u="none" dirty="0">
                <a:solidFill>
                  <a:srgbClr val="1E5EA8"/>
                </a:solidFill>
                <a:latin typeface="Calibri"/>
              </a:rPr>
              <a:t>Real-time Airfare Price Index (</a:t>
            </a:r>
            <a:r>
              <a:rPr sz="2000" b="1" u="none" dirty="0" err="1">
                <a:solidFill>
                  <a:srgbClr val="1E5EA8"/>
                </a:solidFill>
                <a:latin typeface="Calibri"/>
              </a:rPr>
              <a:t>APIx</a:t>
            </a:r>
            <a:r>
              <a:rPr sz="2000" b="1" u="none" dirty="0">
                <a:solidFill>
                  <a:srgbClr val="1E5EA8"/>
                </a:solidFill>
                <a:latin typeface="Calibri"/>
              </a:rPr>
              <a:t>) for India's CPI Augmentation</a:t>
            </a:r>
          </a:p>
          <a:p>
            <a:pPr algn="ctr">
              <a:spcBef>
                <a:spcPts val="1000"/>
              </a:spcBef>
            </a:pPr>
            <a:r>
              <a:rPr sz="1500" b="0" u="none" dirty="0">
                <a:solidFill>
                  <a:srgbClr val="000000"/>
                </a:solidFill>
                <a:latin typeface="Calibri"/>
              </a:rPr>
              <a:t>Base Year 2024 = 100  ·  COICOP-2018 Division 07  ·  </a:t>
            </a:r>
            <a:r>
              <a:rPr sz="1500" b="0" u="none" dirty="0" err="1">
                <a:solidFill>
                  <a:srgbClr val="000000"/>
                </a:solidFill>
                <a:latin typeface="Calibri"/>
              </a:rPr>
              <a:t>MoSPI</a:t>
            </a:r>
            <a:r>
              <a:rPr sz="1500" b="0" u="none" dirty="0">
                <a:solidFill>
                  <a:srgbClr val="000000"/>
                </a:solidFill>
                <a:latin typeface="Calibri"/>
              </a:rPr>
              <a:t> / RBI</a:t>
            </a:r>
          </a:p>
          <a:p>
            <a:pPr algn="ctr">
              <a:spcBef>
                <a:spcPts val="1800"/>
              </a:spcBef>
            </a:pPr>
            <a:r>
              <a:rPr sz="1300" b="0" u="none" dirty="0">
                <a:solidFill>
                  <a:srgbClr val="334155"/>
                </a:solidFill>
                <a:latin typeface="Calibri"/>
              </a:rPr>
              <a:t>Smart India Hackathon 2026 — Idea Submission  ·  Team </a:t>
            </a:r>
            <a:r>
              <a:rPr sz="1300" b="0" u="none" dirty="0" err="1">
                <a:solidFill>
                  <a:srgbClr val="334155"/>
                </a:solidFill>
                <a:latin typeface="Calibri"/>
              </a:rPr>
              <a:t>Voxsentinals</a:t>
            </a:r>
            <a:endParaRPr sz="1300" b="0" u="none" dirty="0">
              <a:solidFill>
                <a:srgbClr val="334155"/>
              </a:solidFill>
              <a:latin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5422C7-C32B-041B-DF39-F3DD00B8B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958" y="340008"/>
            <a:ext cx="1425063" cy="7011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1C1FB8-7D1B-BAA7-12B4-610A3D784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81928"/>
            <a:ext cx="12191695" cy="576072"/>
          </a:xfrm>
          <a:prstGeom prst="rect">
            <a:avLst/>
          </a:prstGeom>
          <a:solidFill>
            <a:srgbClr val="157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6355080"/>
            <a:ext cx="12191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u="none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3550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u="none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Oval 4"/>
          <p:cNvSpPr/>
          <p:nvPr/>
        </p:nvSpPr>
        <p:spPr>
          <a:xfrm>
            <a:off x="180323" y="182880"/>
            <a:ext cx="1536192" cy="731520"/>
          </a:xfrm>
          <a:prstGeom prst="ellipse">
            <a:avLst/>
          </a:prstGeom>
          <a:noFill/>
          <a:ln w="22225">
            <a:solidFill>
              <a:srgbClr val="8E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u="none">
                <a:solidFill>
                  <a:srgbClr val="000000"/>
                </a:solidFill>
                <a:latin typeface="Calibri"/>
              </a:rPr>
              <a:t>Voxsentinals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3664" y="18288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u="none" dirty="0">
                <a:solidFill>
                  <a:srgbClr val="1E5EA8"/>
                </a:solidFill>
                <a:latin typeface="Calibri"/>
              </a:rPr>
              <a:t>❖ </a:t>
            </a:r>
            <a:r>
              <a:rPr sz="2300" b="1" u="sng" dirty="0">
                <a:solidFill>
                  <a:srgbClr val="1E5EA8"/>
                </a:solidFill>
                <a:latin typeface="Calibri"/>
              </a:rPr>
              <a:t>Proposed Solution (Describe your Idea/Solution/Prototype)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-59757" y="1392441"/>
                <a:ext cx="6468151" cy="50629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/>
                  <a:t>Core Mission:</a:t>
                </a:r>
                <a:r>
                  <a:rPr lang="en-IN" dirty="0"/>
                  <a:t> Revolutionizing national inflation tracking via a Real-Time Airfare Price Index (</a:t>
                </a:r>
                <a:r>
                  <a:rPr lang="en-IN" dirty="0" err="1"/>
                  <a:t>APIx</a:t>
                </a:r>
                <a:r>
                  <a:rPr lang="en-IN" dirty="0"/>
                  <a:t>) to augment the Consumer Price Index (CPI).</a:t>
                </a:r>
              </a:p>
              <a:p>
                <a:endParaRPr lang="en-IN" dirty="0"/>
              </a:p>
              <a:p>
                <a:pPr lvl="0"/>
                <a:r>
                  <a:rPr lang="en-IN" b="1" dirty="0"/>
                  <a:t>🌐 Automated Multi-Source Scraper:</a:t>
                </a:r>
                <a:r>
                  <a:rPr lang="en-IN" dirty="0"/>
                  <a:t> Continuously harvests live ticket quotes from major Indian airlines (IndiGo, Air India, Akasa Air, etc.) and leading OTAs.</a:t>
                </a:r>
              </a:p>
              <a:p>
                <a:pPr lvl="0"/>
                <a:r>
                  <a:rPr lang="en-IN" b="1" dirty="0"/>
                  <a:t>⏱️ Granular Lead-Time Windows:</a:t>
                </a:r>
                <a:r>
                  <a:rPr lang="en-IN" dirty="0"/>
                  <a:t> Tracks dynamic pricing shifts across critical booking horizons (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IN" dirty="0"/>
                  <a:t> to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+45</m:t>
                    </m:r>
                  </m:oMath>
                </a14:m>
                <a:r>
                  <a:rPr lang="en-IN" dirty="0"/>
                  <a:t>days).</a:t>
                </a:r>
              </a:p>
              <a:p>
                <a:pPr lvl="0"/>
                <a:r>
                  <a:rPr lang="en-IN" b="1" dirty="0"/>
                  <a:t>⚖️ DGCA-Weighted Index Engine:</a:t>
                </a:r>
                <a:r>
                  <a:rPr lang="en-IN" dirty="0"/>
                  <a:t> Computes robust daily, weekly, and monthly index numbers using official route passenger-traffic shares.</a:t>
                </a:r>
              </a:p>
              <a:p>
                <a:pPr lvl="0"/>
                <a:r>
                  <a:rPr lang="en-IN" b="1" dirty="0"/>
                  <a:t>📊 Macro-Economic Augmentation:</a:t>
                </a:r>
                <a:r>
                  <a:rPr lang="en-IN" dirty="0"/>
                  <a:t> Seamlessly bridges high-frequency market volatility with official NSO statistical reporting.</a:t>
                </a:r>
              </a:p>
              <a:p>
                <a:pPr lvl="0"/>
                <a:r>
                  <a:rPr lang="en-IN" b="1" dirty="0"/>
                  <a:t>🚀 Dual-Consumer Architecture:</a:t>
                </a:r>
                <a:r>
                  <a:rPr lang="en-IN" dirty="0"/>
                  <a:t> Delivers an executive visual dashboard alongside a secure, ready-to-consume JSON API for the RBI and NSO.</a:t>
                </a:r>
              </a:p>
              <a:p>
                <a:pPr marL="274320" indent="-274320">
                  <a:lnSpc>
                    <a:spcPct val="104000"/>
                  </a:lnSpc>
                  <a:spcAft>
                    <a:spcPts val="700"/>
                  </a:spcAft>
                  <a:buFont typeface="Arial"/>
                  <a:buChar char="•"/>
                </a:pPr>
                <a:endParaRPr sz="1700" b="0" u="none" dirty="0">
                  <a:solidFill>
                    <a:srgbClr val="000000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9757" y="1392441"/>
                <a:ext cx="6468151" cy="5062989"/>
              </a:xfrm>
              <a:prstGeom prst="rect">
                <a:avLst/>
              </a:prstGeom>
              <a:blipFill>
                <a:blip r:embed="rId3"/>
                <a:stretch>
                  <a:fillRect l="-754" t="-602" r="-2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601F5F3C-9F7F-891C-2C57-32F871EEE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2645" y="1392441"/>
            <a:ext cx="5899050" cy="43865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64C196-7202-3727-2C25-6E0011636E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2063" y="91440"/>
            <a:ext cx="1759614" cy="8656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81928"/>
            <a:ext cx="12191695" cy="576072"/>
          </a:xfrm>
          <a:prstGeom prst="rect">
            <a:avLst/>
          </a:prstGeom>
          <a:solidFill>
            <a:srgbClr val="157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6355080"/>
            <a:ext cx="12191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u="none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3550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u="none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Oval 4"/>
          <p:cNvSpPr/>
          <p:nvPr/>
        </p:nvSpPr>
        <p:spPr>
          <a:xfrm>
            <a:off x="347472" y="274320"/>
            <a:ext cx="1536192" cy="731520"/>
          </a:xfrm>
          <a:prstGeom prst="ellipse">
            <a:avLst/>
          </a:prstGeom>
          <a:noFill/>
          <a:ln w="22225">
            <a:solidFill>
              <a:srgbClr val="8E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u="none">
                <a:solidFill>
                  <a:srgbClr val="000000"/>
                </a:solidFill>
                <a:latin typeface="Calibri"/>
              </a:rPr>
              <a:t>Voxsentinals</a:t>
            </a:r>
          </a:p>
        </p:txBody>
      </p:sp>
      <p:pic>
        <p:nvPicPr>
          <p:cNvPr id="6" name="Picture 5" descr="si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375" y="91440"/>
            <a:ext cx="2331720" cy="8660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1" y="64008"/>
            <a:ext cx="121916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u="none">
                <a:solidFill>
                  <a:srgbClr val="000000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lnSpc>
                <a:spcPct val="104000"/>
              </a:lnSpc>
              <a:spcAft>
                <a:spcPts val="700"/>
              </a:spcAft>
              <a:buFont typeface="Arial"/>
              <a:buChar char="•"/>
            </a:pPr>
            <a:r>
              <a:rPr sz="1700" b="1" u="none" dirty="0">
                <a:solidFill>
                  <a:srgbClr val="1E5EA8"/>
                </a:solidFill>
                <a:latin typeface="Calibri"/>
              </a:rPr>
              <a:t>Technologies to be used — </a:t>
            </a:r>
            <a:r>
              <a:rPr sz="1700" b="0" u="none" dirty="0">
                <a:solidFill>
                  <a:srgbClr val="000000"/>
                </a:solidFill>
                <a:latin typeface="Calibri"/>
              </a:rPr>
              <a:t>Python 3.14 · </a:t>
            </a:r>
            <a:r>
              <a:rPr sz="1700" b="0" u="none" dirty="0" err="1">
                <a:solidFill>
                  <a:srgbClr val="000000"/>
                </a:solidFill>
                <a:latin typeface="Calibri"/>
              </a:rPr>
              <a:t>FastAPI</a:t>
            </a:r>
            <a:r>
              <a:rPr sz="1700" b="0" u="none" dirty="0">
                <a:solidFill>
                  <a:srgbClr val="000000"/>
                </a:solidFill>
                <a:latin typeface="Calibri"/>
              </a:rPr>
              <a:t> · async Playwright · pandas/NumPy · </a:t>
            </a:r>
            <a:r>
              <a:rPr sz="1700" b="0" u="none" dirty="0" err="1">
                <a:solidFill>
                  <a:srgbClr val="000000"/>
                </a:solidFill>
                <a:latin typeface="Calibri"/>
              </a:rPr>
              <a:t>pytest</a:t>
            </a:r>
            <a:r>
              <a:rPr sz="1700" b="0" u="none" dirty="0">
                <a:solidFill>
                  <a:srgbClr val="000000"/>
                </a:solidFill>
                <a:latin typeface="Calibri"/>
              </a:rPr>
              <a:t> (backend); React 19 + TypeScript · Tailwind CSS · Recharts · Framer Motion · Vite (frontend); GitHub Actions (daily </a:t>
            </a:r>
            <a:r>
              <a:rPr sz="1700" b="0" u="none" dirty="0" err="1">
                <a:solidFill>
                  <a:srgbClr val="000000"/>
                </a:solidFill>
                <a:latin typeface="Calibri"/>
              </a:rPr>
              <a:t>cron</a:t>
            </a:r>
            <a:r>
              <a:rPr sz="1700" b="0" u="none" dirty="0">
                <a:solidFill>
                  <a:srgbClr val="000000"/>
                </a:solidFill>
                <a:latin typeface="Calibri"/>
              </a:rPr>
              <a:t> + CI) · Docker Compose · Render (ops); SSE streaming, HMAC-SHA256 webhooks, API-key tiers.</a:t>
            </a:r>
          </a:p>
          <a:p>
            <a:pPr marL="274320" indent="-274320">
              <a:lnSpc>
                <a:spcPct val="104000"/>
              </a:lnSpc>
              <a:spcAft>
                <a:spcPts val="700"/>
              </a:spcAft>
              <a:buFont typeface="Arial"/>
              <a:buChar char="•"/>
            </a:pPr>
            <a:r>
              <a:rPr sz="1700" b="1" u="none" dirty="0">
                <a:solidFill>
                  <a:srgbClr val="1E5EA8"/>
                </a:solidFill>
                <a:latin typeface="Calibri"/>
              </a:rPr>
              <a:t>Methodology and process for implementation — </a:t>
            </a:r>
            <a:r>
              <a:rPr sz="1700" b="0" u="none" dirty="0">
                <a:solidFill>
                  <a:srgbClr val="000000"/>
                </a:solidFill>
                <a:latin typeface="Calibri"/>
              </a:rPr>
              <a:t>five-stage pipeline below (flow chart) with the live working prototype (screenshot).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61488"/>
            <a:ext cx="1938528" cy="3429000"/>
          </a:xfrm>
          <a:prstGeom prst="roundRect">
            <a:avLst>
              <a:gd name="adj" fmla="val 18000"/>
            </a:avLst>
          </a:prstGeom>
          <a:solidFill>
            <a:srgbClr val="1E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50" b="0" u="none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Right Arrow 9"/>
          <p:cNvSpPr/>
          <p:nvPr/>
        </p:nvSpPr>
        <p:spPr>
          <a:xfrm flipV="1">
            <a:off x="2514600" y="4106672"/>
            <a:ext cx="347472" cy="720344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862072" y="2761488"/>
            <a:ext cx="1938528" cy="3429000"/>
          </a:xfrm>
          <a:prstGeom prst="roundRect">
            <a:avLst>
              <a:gd name="adj" fmla="val 18000"/>
            </a:avLst>
          </a:prstGeom>
          <a:solidFill>
            <a:srgbClr val="2A6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50" b="0" u="none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4837176" y="4060952"/>
            <a:ext cx="347472" cy="718312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221224" y="2761488"/>
            <a:ext cx="1938528" cy="3429000"/>
          </a:xfrm>
          <a:prstGeom prst="roundRect">
            <a:avLst>
              <a:gd name="adj" fmla="val 18000"/>
            </a:avLst>
          </a:prstGeom>
          <a:solidFill>
            <a:srgbClr val="158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50" b="0" u="none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7232904" y="4060952"/>
            <a:ext cx="347472" cy="677672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580376" y="2761488"/>
            <a:ext cx="1938528" cy="3429000"/>
          </a:xfrm>
          <a:prstGeom prst="roundRect">
            <a:avLst>
              <a:gd name="adj" fmla="val 18000"/>
            </a:avLst>
          </a:prstGeom>
          <a:solidFill>
            <a:srgbClr val="0F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50" b="0" u="none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9592056" y="4060952"/>
            <a:ext cx="347472" cy="657352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939528" y="2761488"/>
            <a:ext cx="1938528" cy="3429000"/>
          </a:xfrm>
          <a:prstGeom prst="roundRect">
            <a:avLst>
              <a:gd name="adj" fmla="val 18000"/>
            </a:avLst>
          </a:prstGeom>
          <a:solidFill>
            <a:srgbClr val="129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850" b="0" u="none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C649EE5-6E90-7F59-C602-FBBE3F5B7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3F9BE15-AC88-D8E3-6B47-4B6369066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7CCD486-B6B9-CD8E-B42B-C2E8A9093C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81928"/>
            <a:ext cx="12191695" cy="576072"/>
          </a:xfrm>
          <a:prstGeom prst="rect">
            <a:avLst/>
          </a:prstGeom>
          <a:solidFill>
            <a:srgbClr val="157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6355080"/>
            <a:ext cx="12191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u="none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3550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u="none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Oval 4"/>
          <p:cNvSpPr/>
          <p:nvPr/>
        </p:nvSpPr>
        <p:spPr>
          <a:xfrm>
            <a:off x="347472" y="274320"/>
            <a:ext cx="1536192" cy="731520"/>
          </a:xfrm>
          <a:prstGeom prst="ellipse">
            <a:avLst/>
          </a:prstGeom>
          <a:noFill/>
          <a:ln w="22225">
            <a:solidFill>
              <a:srgbClr val="8E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u="none">
                <a:solidFill>
                  <a:srgbClr val="000000"/>
                </a:solidFill>
                <a:latin typeface="Calibri"/>
              </a:rPr>
              <a:t>Voxsentinals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07850" y="135156"/>
            <a:ext cx="121916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u="none" dirty="0">
                <a:solidFill>
                  <a:srgbClr val="000000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829054" cy="5301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Here is the creative, concise content and the custom visual graphic for </a:t>
            </a:r>
            <a:r>
              <a:rPr lang="en-IN" sz="1600" b="1" dirty="0"/>
              <a:t>Slide 3: Feasibility and Viability</a:t>
            </a:r>
            <a:r>
              <a:rPr lang="en-IN" sz="1600" dirty="0"/>
              <a:t> of </a:t>
            </a:r>
            <a:r>
              <a:rPr lang="en-IN" sz="1600" b="1" dirty="0"/>
              <a:t>"Reach your destination"</a:t>
            </a:r>
            <a:r>
              <a:rPr lang="en-IN" sz="1600" dirty="0"/>
              <a:t>.</a:t>
            </a:r>
          </a:p>
          <a:p>
            <a:r>
              <a:rPr lang="en-IN" sz="1600" b="1" dirty="0"/>
              <a:t>Slide Content: Feasibility and Viability</a:t>
            </a:r>
          </a:p>
          <a:p>
            <a:r>
              <a:rPr lang="en-IN" sz="1600" b="1" dirty="0"/>
              <a:t>Core Takeaway:</a:t>
            </a:r>
            <a:r>
              <a:rPr lang="en-IN" sz="1600" dirty="0"/>
              <a:t> A production-ready, highly compliant, and scalable architecture designed for seamless real-world deployment.</a:t>
            </a:r>
          </a:p>
          <a:p>
            <a:pPr lvl="0"/>
            <a:r>
              <a:rPr lang="en-IN" sz="1600" b="1" dirty="0"/>
              <a:t>📈 Empirical </a:t>
            </a:r>
            <a:r>
              <a:rPr lang="en-IN" sz="1600" b="1" dirty="0" err="1"/>
              <a:t>Backtested</a:t>
            </a:r>
            <a:r>
              <a:rPr lang="en-IN" sz="1600" b="1" dirty="0"/>
              <a:t> Validation:</a:t>
            </a:r>
            <a:r>
              <a:rPr lang="en-IN" sz="1600" dirty="0"/>
              <a:t> Successfully demonstrates 30 days of back-tested results mapped against historical National Statistical Office (NSO) CPI baseline data.</a:t>
            </a:r>
          </a:p>
          <a:p>
            <a:pPr lvl="0"/>
            <a:r>
              <a:rPr lang="en-IN" sz="1600" b="1" dirty="0"/>
              <a:t>🛡️ Operational Compliance &amp; Ethics:</a:t>
            </a:r>
            <a:r>
              <a:rPr lang="en-IN" sz="1600" dirty="0"/>
              <a:t> Built-in </a:t>
            </a:r>
            <a:r>
              <a:rPr lang="en-IN" dirty="0"/>
              <a:t>robots.txt</a:t>
            </a:r>
            <a:r>
              <a:rPr lang="en-IN" sz="1600" dirty="0"/>
              <a:t> awareness, ethical rate-limiting, and proxy rotation to ensure zero disruption or legal blocks.</a:t>
            </a:r>
          </a:p>
          <a:p>
            <a:pPr lvl="0"/>
            <a:r>
              <a:rPr lang="en-IN" sz="1600" b="1" dirty="0"/>
              <a:t>⚙️ Scalable Containerization:</a:t>
            </a:r>
            <a:r>
              <a:rPr lang="en-IN" sz="1600" dirty="0"/>
              <a:t> Fully </a:t>
            </a:r>
            <a:r>
              <a:rPr lang="en-IN" sz="1600" dirty="0" err="1"/>
              <a:t>dockerized</a:t>
            </a:r>
            <a:r>
              <a:rPr lang="en-IN" sz="1600" dirty="0"/>
              <a:t> microservice architecture (</a:t>
            </a:r>
            <a:r>
              <a:rPr lang="en-IN" dirty="0"/>
              <a:t>docker-compose</a:t>
            </a:r>
            <a:r>
              <a:rPr lang="en-IN" sz="1600" dirty="0"/>
              <a:t>) for instant, error-free deployment across cloud or government servers.</a:t>
            </a:r>
          </a:p>
          <a:p>
            <a:pPr lvl="0"/>
            <a:r>
              <a:rPr lang="en-IN" sz="1600" b="1" dirty="0"/>
              <a:t>🔌 Government-Ready API Integration:</a:t>
            </a:r>
            <a:r>
              <a:rPr lang="en-IN" sz="1600" dirty="0"/>
              <a:t> Standardized RESTful </a:t>
            </a:r>
            <a:r>
              <a:rPr lang="en-IN" sz="1600" dirty="0" err="1"/>
              <a:t>OpenAPI</a:t>
            </a:r>
            <a:r>
              <a:rPr lang="en-IN" sz="1600" dirty="0"/>
              <a:t>/Swagger endpoints allowing immediate consumption by the RBI and NSO.</a:t>
            </a:r>
          </a:p>
          <a:p>
            <a:pPr lvl="0"/>
            <a:r>
              <a:rPr lang="en-IN" sz="1600" b="1" dirty="0"/>
              <a:t>🔍 Data Trust &amp; Anomaly Guardrails:</a:t>
            </a:r>
            <a:r>
              <a:rPr lang="en-IN" sz="1600" dirty="0"/>
              <a:t> Automatic Z-score outlier filtering and sold-out flight imputation to guarantee high data integrity.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endParaRPr sz="1450" b="0" u="none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1CD014-3C98-4F77-9278-5B7BA9FCE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975" y="1431599"/>
            <a:ext cx="5585400" cy="45733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7FD9F4-029D-F11C-F9AF-6AE661A9A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5828" y="135156"/>
            <a:ext cx="1851547" cy="9109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81928"/>
            <a:ext cx="12191695" cy="576072"/>
          </a:xfrm>
          <a:prstGeom prst="rect">
            <a:avLst/>
          </a:prstGeom>
          <a:solidFill>
            <a:srgbClr val="157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6355080"/>
            <a:ext cx="12191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u="none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3550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u="none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Oval 4"/>
          <p:cNvSpPr/>
          <p:nvPr/>
        </p:nvSpPr>
        <p:spPr>
          <a:xfrm>
            <a:off x="347472" y="274320"/>
            <a:ext cx="1536192" cy="731520"/>
          </a:xfrm>
          <a:prstGeom prst="ellipse">
            <a:avLst/>
          </a:prstGeom>
          <a:noFill/>
          <a:ln w="22225">
            <a:solidFill>
              <a:srgbClr val="8E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u="none">
                <a:solidFill>
                  <a:srgbClr val="000000"/>
                </a:solidFill>
                <a:latin typeface="Calibri"/>
              </a:rPr>
              <a:t>Voxsentinals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347167" y="112088"/>
            <a:ext cx="121916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u="none" dirty="0">
                <a:solidFill>
                  <a:srgbClr val="000000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072" y="1234440"/>
            <a:ext cx="4564888" cy="4747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Core Takeaway:</a:t>
            </a:r>
            <a:r>
              <a:rPr lang="en-IN" sz="1600" dirty="0"/>
              <a:t> Transforming national inflation tracking by replacing delayed retrospective data with real-time, actionable aviation market intelligence.</a:t>
            </a:r>
          </a:p>
          <a:p>
            <a:pPr lvl="0"/>
            <a:r>
              <a:rPr lang="en-IN" sz="1600" b="1" dirty="0"/>
              <a:t>⚡ Real-Time Policy Visibility:</a:t>
            </a:r>
            <a:r>
              <a:rPr lang="en-IN" sz="1600" dirty="0"/>
              <a:t> Eliminates reporting lag by providing the RBI and NSO with daily, high-frequency visibility into sectoral price pressures.</a:t>
            </a:r>
          </a:p>
          <a:p>
            <a:pPr lvl="0"/>
            <a:r>
              <a:rPr lang="en-IN" sz="1600" b="1" dirty="0"/>
              <a:t>📊 Independent CPI Augmentation:</a:t>
            </a:r>
            <a:r>
              <a:rPr lang="en-IN" sz="1600" dirty="0"/>
              <a:t> Isolates pure base fares from volatile statutory taxes and convenience fees to ensure precise national index benchmarking.</a:t>
            </a:r>
          </a:p>
          <a:p>
            <a:pPr lvl="0"/>
            <a:r>
              <a:rPr lang="en-IN" sz="1600" b="1" dirty="0"/>
              <a:t>🗺️ Granular Market Intelligence:</a:t>
            </a:r>
            <a:r>
              <a:rPr lang="en-IN" sz="1600" dirty="0"/>
              <a:t> Uncovers seasonal demand spikes, lead-time elasticity shifts, and capacity constraints across India's busiest aviation corridors.</a:t>
            </a:r>
          </a:p>
          <a:p>
            <a:pPr lvl="0"/>
            <a:r>
              <a:rPr lang="en-IN" sz="1600" b="1" dirty="0"/>
              <a:t>🛡️ Enhanced Regulatory Oversight:</a:t>
            </a:r>
            <a:r>
              <a:rPr lang="en-IN" sz="1600" dirty="0"/>
              <a:t> Equips authorities with transparent, data-driven tools to monitor pricing caps, anomalies, and market fairness proactively.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endParaRPr sz="1450" b="0" u="none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148B21-834D-212B-301B-DCF803C1A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560" y="1234440"/>
            <a:ext cx="6167120" cy="4800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828E0A-57C2-D924-5BC2-C6CC2C4C5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0113" y="87016"/>
            <a:ext cx="1774415" cy="872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81928"/>
            <a:ext cx="12191695" cy="576072"/>
          </a:xfrm>
          <a:prstGeom prst="rect">
            <a:avLst/>
          </a:prstGeom>
          <a:solidFill>
            <a:srgbClr val="157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6355080"/>
            <a:ext cx="12191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u="none">
                <a:solidFill>
                  <a:srgbClr val="FFFFFF"/>
                </a:solidFill>
                <a:latin typeface="Calibri"/>
              </a:rPr>
              <a:t>@SIH Idea submission-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3550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u="none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Oval 4"/>
          <p:cNvSpPr/>
          <p:nvPr/>
        </p:nvSpPr>
        <p:spPr>
          <a:xfrm>
            <a:off x="347472" y="274320"/>
            <a:ext cx="1536192" cy="731520"/>
          </a:xfrm>
          <a:prstGeom prst="ellipse">
            <a:avLst/>
          </a:prstGeom>
          <a:noFill/>
          <a:ln w="22225">
            <a:solidFill>
              <a:srgbClr val="8E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u="none">
                <a:solidFill>
                  <a:srgbClr val="000000"/>
                </a:solidFill>
                <a:latin typeface="Calibri"/>
              </a:rPr>
              <a:t>Voxsentinals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472288" y="236251"/>
            <a:ext cx="121916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u="none" dirty="0">
                <a:solidFill>
                  <a:srgbClr val="000000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382237"/>
            <a:ext cx="10392697" cy="3046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lnSpc>
                <a:spcPct val="104000"/>
              </a:lnSpc>
              <a:spcAft>
                <a:spcPts val="700"/>
              </a:spcAft>
              <a:buFont typeface="Arial"/>
              <a:buChar char="•"/>
            </a:pPr>
            <a:r>
              <a:rPr sz="1700" b="1" u="none">
                <a:solidFill>
                  <a:srgbClr val="1E5EA8"/>
                </a:solidFill>
                <a:latin typeface="Calibri"/>
              </a:rPr>
              <a:t>Details / Links of the reference and research work — </a:t>
            </a:r>
          </a:p>
          <a:p>
            <a:pPr marL="594360" indent="-228600">
              <a:lnSpc>
                <a:spcPct val="104000"/>
              </a:lnSpc>
              <a:spcAft>
                <a:spcPts val="500"/>
              </a:spcAft>
              <a:buFont typeface="Arial"/>
              <a:buChar char="–"/>
            </a:pPr>
            <a:r>
              <a:rPr sz="1450" b="1" u="none">
                <a:solidFill>
                  <a:srgbClr val="1E5EA8"/>
                </a:solidFill>
                <a:latin typeface="Calibri"/>
              </a:rPr>
              <a:t>MoSPI — </a:t>
            </a:r>
            <a:r>
              <a:rPr sz="1450" b="0" u="none">
                <a:solidFill>
                  <a:srgbClr val="000000"/>
                </a:solidFill>
                <a:latin typeface="Calibri"/>
              </a:rPr>
              <a:t>CPI Base Year 2024=100 revision &amp; COICOP-2018 adoption — mospi.gov.in</a:t>
            </a:r>
          </a:p>
          <a:p>
            <a:pPr marL="594360" indent="-228600">
              <a:lnSpc>
                <a:spcPct val="104000"/>
              </a:lnSpc>
              <a:spcAft>
                <a:spcPts val="500"/>
              </a:spcAft>
              <a:buFont typeface="Arial"/>
              <a:buChar char="–"/>
            </a:pPr>
            <a:r>
              <a:rPr sz="1450" b="1" u="none">
                <a:solidFill>
                  <a:srgbClr val="1E5EA8"/>
                </a:solidFill>
                <a:latin typeface="Calibri"/>
              </a:rPr>
              <a:t>UN Statistics Division — </a:t>
            </a:r>
            <a:r>
              <a:rPr sz="1450" b="0" u="none">
                <a:solidFill>
                  <a:srgbClr val="000000"/>
                </a:solidFill>
                <a:latin typeface="Calibri"/>
              </a:rPr>
              <a:t>COICOP-2018 classification (07.3.1.2 Passenger transport by air) — unstats.un.org</a:t>
            </a:r>
          </a:p>
          <a:p>
            <a:pPr marL="594360" indent="-228600">
              <a:lnSpc>
                <a:spcPct val="104000"/>
              </a:lnSpc>
              <a:spcAft>
                <a:spcPts val="500"/>
              </a:spcAft>
              <a:buFont typeface="Arial"/>
              <a:buChar char="–"/>
            </a:pPr>
            <a:r>
              <a:rPr sz="1450" b="1" u="none">
                <a:solidFill>
                  <a:srgbClr val="1E5EA8"/>
                </a:solidFill>
                <a:latin typeface="Calibri"/>
              </a:rPr>
              <a:t>e-Sankhyiki portal — </a:t>
            </a:r>
            <a:r>
              <a:rPr sz="1450" b="0" u="none">
                <a:solidFill>
                  <a:srgbClr val="000000"/>
                </a:solidFill>
                <a:latin typeface="Calibri"/>
              </a:rPr>
              <a:t>API conventions mirrored by the project's endpoints — esankhyiki.mospi.gov.in</a:t>
            </a:r>
          </a:p>
          <a:p>
            <a:pPr marL="594360" indent="-228600">
              <a:lnSpc>
                <a:spcPct val="104000"/>
              </a:lnSpc>
              <a:spcAft>
                <a:spcPts val="500"/>
              </a:spcAft>
              <a:buFont typeface="Arial"/>
              <a:buChar char="–"/>
            </a:pPr>
            <a:r>
              <a:rPr sz="1450" b="1" u="none">
                <a:solidFill>
                  <a:srgbClr val="1E5EA8"/>
                </a:solidFill>
                <a:latin typeface="Calibri"/>
              </a:rPr>
              <a:t>DGCA — </a:t>
            </a:r>
            <a:r>
              <a:rPr sz="1450" b="0" u="none">
                <a:solidFill>
                  <a:srgbClr val="000000"/>
                </a:solidFill>
                <a:latin typeface="Calibri"/>
              </a:rPr>
              <a:t>domestic sector traffic data used for route weights — dgca.gov.in</a:t>
            </a:r>
          </a:p>
          <a:p>
            <a:pPr marL="594360" indent="-228600">
              <a:lnSpc>
                <a:spcPct val="104000"/>
              </a:lnSpc>
              <a:spcAft>
                <a:spcPts val="500"/>
              </a:spcAft>
              <a:buFont typeface="Arial"/>
              <a:buChar char="–"/>
            </a:pPr>
            <a:r>
              <a:rPr sz="1450" b="1" u="none">
                <a:solidFill>
                  <a:srgbClr val="1E5EA8"/>
                </a:solidFill>
                <a:latin typeface="Calibri"/>
              </a:rPr>
              <a:t>PPAC — </a:t>
            </a:r>
            <a:r>
              <a:rPr sz="1450" b="0" u="none">
                <a:solidFill>
                  <a:srgbClr val="000000"/>
                </a:solidFill>
                <a:latin typeface="Calibri"/>
              </a:rPr>
              <a:t>ATF price series feeding the policy simulator — ppac.org.in</a:t>
            </a:r>
          </a:p>
          <a:p>
            <a:pPr marL="594360" indent="-228600">
              <a:lnSpc>
                <a:spcPct val="104000"/>
              </a:lnSpc>
              <a:spcAft>
                <a:spcPts val="500"/>
              </a:spcAft>
              <a:buFont typeface="Arial"/>
              <a:buChar char="–"/>
            </a:pPr>
            <a:r>
              <a:rPr sz="1450" b="1" u="none">
                <a:solidFill>
                  <a:srgbClr val="1E5EA8"/>
                </a:solidFill>
                <a:latin typeface="Calibri"/>
              </a:rPr>
              <a:t>CPI Manual (ILO / IMF / OECD / UN / World Bank) — </a:t>
            </a:r>
            <a:r>
              <a:rPr sz="1450" b="0" u="none">
                <a:solidFill>
                  <a:srgbClr val="000000"/>
                </a:solidFill>
                <a:latin typeface="Calibri"/>
              </a:rPr>
              <a:t>Laspeyres index methodology</a:t>
            </a:r>
          </a:p>
          <a:p>
            <a:pPr marL="594360" indent="-228600">
              <a:lnSpc>
                <a:spcPct val="104000"/>
              </a:lnSpc>
              <a:spcAft>
                <a:spcPts val="500"/>
              </a:spcAft>
              <a:buFont typeface="Arial"/>
              <a:buChar char="–"/>
            </a:pPr>
            <a:r>
              <a:rPr sz="1450" b="1" u="none">
                <a:solidFill>
                  <a:srgbClr val="1E5EA8"/>
                </a:solidFill>
                <a:latin typeface="Calibri"/>
              </a:rPr>
              <a:t>Box &amp; Jenkins — </a:t>
            </a:r>
            <a:r>
              <a:rPr sz="1450" b="0" u="none">
                <a:solidFill>
                  <a:srgbClr val="000000"/>
                </a:solidFill>
                <a:latin typeface="Calibri"/>
              </a:rPr>
              <a:t>ARIMA time-series modelling; walk-forward validation literature</a:t>
            </a:r>
          </a:p>
          <a:p>
            <a:pPr marL="594360" indent="-228600">
              <a:lnSpc>
                <a:spcPct val="104000"/>
              </a:lnSpc>
              <a:spcAft>
                <a:spcPts val="500"/>
              </a:spcAft>
              <a:buFont typeface="Arial"/>
              <a:buChar char="–"/>
            </a:pPr>
            <a:r>
              <a:rPr sz="1450" b="1" u="none">
                <a:solidFill>
                  <a:srgbClr val="1E5EA8"/>
                </a:solidFill>
                <a:latin typeface="Calibri"/>
              </a:rPr>
              <a:t>Stack documentation — </a:t>
            </a:r>
            <a:r>
              <a:rPr sz="1450" b="0" u="none">
                <a:solidFill>
                  <a:srgbClr val="000000"/>
                </a:solidFill>
                <a:latin typeface="Calibri"/>
              </a:rPr>
              <a:t>FastAPI · Playwright · React · Recharts · Tailwind CSS (official docs)</a:t>
            </a:r>
          </a:p>
          <a:p>
            <a:pPr marL="594360" indent="-228600">
              <a:lnSpc>
                <a:spcPct val="104000"/>
              </a:lnSpc>
              <a:spcAft>
                <a:spcPts val="500"/>
              </a:spcAft>
              <a:buFont typeface="Arial"/>
              <a:buChar char="–"/>
            </a:pPr>
            <a:r>
              <a:rPr sz="1450" b="1" u="none">
                <a:solidFill>
                  <a:srgbClr val="1E5EA8"/>
                </a:solidFill>
                <a:latin typeface="Calibri"/>
              </a:rPr>
              <a:t>Project artifacts — </a:t>
            </a:r>
            <a:r>
              <a:rPr sz="1450" b="0" u="none">
                <a:solidFill>
                  <a:srgbClr val="000000"/>
                </a:solidFill>
                <a:latin typeface="Calibri"/>
              </a:rPr>
              <a:t>docs/architecture.svg · docs/screenshots/ · DEPLOY.md · DEMO_SCRIPT.md (in repository)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5897C3-64C3-BACC-9E98-6D138C573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07" y="137160"/>
            <a:ext cx="1874168" cy="9220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970</Words>
  <Application>Microsoft Office PowerPoint</Application>
  <PresentationFormat>Widescreen</PresentationFormat>
  <Paragraphs>65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Avnish Sharma</cp:lastModifiedBy>
  <cp:revision>3</cp:revision>
  <dcterms:created xsi:type="dcterms:W3CDTF">2013-01-27T09:14:16Z</dcterms:created>
  <dcterms:modified xsi:type="dcterms:W3CDTF">2026-09-25T15:02:45Z</dcterms:modified>
  <cp:category/>
</cp:coreProperties>
</file>